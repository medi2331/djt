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</ns0:sldIdLst>
  <ns0:sldSz cx="12192000" cy="6858000" type="screen4x3"/>
  <ns0:notesSz cx="6858000" cy="9144000"/>
  <ns0:embeddedFontLst>
    <ns0:embeddedFont>
      <ns0:font typeface="Noto Sans KR"/>
      <ns0:bold ns1:id="rIdFont11"/>
      <ns0:regular ns1:id="rIdFont1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Font11" Type="http://schemas.openxmlformats.org/officeDocument/2006/relationships/font" Target="fonts/53d0e0ca-bffa-48b7-9af0-077bc18c334d.fntdata" /><ns0:Relationship Id="rIdFont12" Type="http://schemas.openxmlformats.org/officeDocument/2006/relationships/font" Target="fonts/cce21c24-c545-41ac-94d1-6cce449ce4bc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943451"/>
            <a:ext cx="109728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985045"/>
            <a:ext cx="3505200" cy="1838325"/>
          </a:xfrm>
          <a:prstGeom prst="roundRect">
            <a:avLst>
              <a:gd name="adj" fmla="val 829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985045"/>
            <a:ext cx="3505200" cy="1838325"/>
          </a:xfrm>
          <a:prstGeom prst="roundRect">
            <a:avLst>
              <a:gd name="adj" fmla="val 829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985045"/>
            <a:ext cx="3505200" cy="1838325"/>
          </a:xfrm>
          <a:prstGeom prst="roundRect">
            <a:avLst>
              <a:gd name="adj" fmla="val 829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5943451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533400"/>
            <a:ext cx="1635174" cy="304800"/>
          </a:xfrm>
          <a:prstGeom prst="roundRect">
            <a:avLst>
              <a:gd name="adj" fmla="val 50000"/>
            </a:avLst>
          </a:prstGeom>
          <a:solidFill>
            <a:srgbClr val="0F303D"/>
          </a:solidFill>
          <a:ln w="9525">
            <a:solidFill>
              <a:srgbClr val="1850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299370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299370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299370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867" y="3423195"/>
            <a:ext cx="163115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6667" y="3423195"/>
            <a:ext cx="163115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0467" y="3423195"/>
            <a:ext cx="163115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990600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F8FAFC"/>
                </a:solidFill>
                <a:latin typeface="Noto Sans KR"/>
              </a:rPr>
              <a:t>신입 직원을 위한 판매 기록 가이드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1607790"/>
            <a:ext cx="95250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4A3B8"/>
                </a:solidFill>
                <a:latin typeface="Noto Sans KR"/>
              </a:rPr>
              <a:t>정확하고 신속한 판매 기록은 매장 운영과 재고 관리의 가장 기본이 되는 업무입니다.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43476"/>
            <a:ext cx="253063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Noto Sans KR"/>
              </a:rPr>
              <a:t>매장 안심 매뉴얼 시리즈 Vol.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45440" y="6153001"/>
            <a:ext cx="72270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2DD4BF"/>
                </a:solidFill>
                <a:latin typeface="Noto Sans KR"/>
              </a:rPr>
              <a:t>01 /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590550"/>
            <a:ext cx="1425624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DD4BF"/>
                </a:solidFill>
                <a:latin typeface="Noto Sans KR"/>
              </a:rPr>
              <a:t>매장 업무 기초 가이드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3947070"/>
            <a:ext cx="3875484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Noto Sans KR"/>
              </a:rPr>
              <a:t>정확한 매출 집계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4280445"/>
            <a:ext cx="36909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Noto Sans KR"/>
              </a:rPr>
              <a:t>투명한 마감 및 일일 정산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9625" y="3947070"/>
            <a:ext cx="3875484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Noto Sans KR"/>
              </a:rPr>
              <a:t>효율적 재고 관리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9625" y="4280445"/>
            <a:ext cx="36909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Noto Sans KR"/>
              </a:rPr>
              <a:t>인기 상품 파악 및 적시 수량 보충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3425" y="3947070"/>
            <a:ext cx="383857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Noto Sans KR"/>
              </a:rPr>
              <a:t>누락 없는 주문 응대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3425" y="4280445"/>
            <a:ext cx="36909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Noto Sans KR"/>
              </a:rPr>
              <a:t>교대 근무 시 신속한 업무 인수인계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57900"/>
            <a:ext cx="109728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5790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91786" y="457200"/>
            <a:ext cx="2290613" cy="447675"/>
          </a:xfrm>
          <a:prstGeom prst="roundRect">
            <a:avLst>
              <a:gd name="adj" fmla="val 2553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1314450"/>
            <a:ext cx="3238500" cy="3419028"/>
          </a:xfrm>
          <a:prstGeom prst="roundRect">
            <a:avLst>
              <a:gd name="adj" fmla="val 47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52900" y="1314450"/>
            <a:ext cx="7429500" cy="3419028"/>
          </a:xfrm>
          <a:prstGeom prst="roundRect">
            <a:avLst>
              <a:gd name="adj" fmla="val 44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9911" y="595312"/>
            <a:ext cx="133498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1514475"/>
            <a:ext cx="2838450" cy="152400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238625" y="1957089"/>
          <a:ext cx="7258048" cy="21336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737121"/>
                <a:gridCol w="1709439"/>
                <a:gridCol w="990451"/>
                <a:gridCol w="1350764"/>
                <a:gridCol w="1470273"/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Noto Sans KR"/>
                        </a:rPr>
                        <a:t>판매일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Noto Sans KR"/>
                        </a:rPr>
                        <a:t>상품명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334155"/>
                          </a:solidFill>
                          <a:latin typeface="Noto Sans KR"/>
                        </a:rPr>
                        <a:t>수량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25" i="0" u="none">
                          <a:solidFill>
                            <a:srgbClr val="334155"/>
                          </a:solidFill>
                          <a:latin typeface="Noto Sans KR"/>
                        </a:rPr>
                        <a:t>단가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25" i="0" u="none">
                          <a:solidFill>
                            <a:srgbClr val="0D9488"/>
                          </a:solidFill>
                          <a:latin typeface="Noto Sans KR"/>
                        </a:rPr>
                        <a:t>판매금액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Noto Sans KR"/>
                        </a:rPr>
                        <a:t>2026-10-01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Noto Sans KR"/>
                        </a:rPr>
                        <a:t>아메리카노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475569"/>
                          </a:solidFill>
                          <a:latin typeface="Noto Sans KR"/>
                        </a:rPr>
                        <a:t>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125" i="0" u="none">
                          <a:solidFill>
                            <a:srgbClr val="475569"/>
                          </a:solidFill>
                          <a:latin typeface="Noto Sans KR"/>
                        </a:rPr>
                        <a:t>2,000원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25" i="0" u="none">
                          <a:solidFill>
                            <a:srgbClr val="0D9488"/>
                          </a:solidFill>
                          <a:latin typeface="Noto Sans KR"/>
                        </a:rPr>
                        <a:t>4,000원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Noto Sans KR"/>
                        </a:rPr>
                        <a:t>2026-10-01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Noto Sans KR"/>
                        </a:rPr>
                        <a:t>카페라떼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475569"/>
                          </a:solidFill>
                          <a:latin typeface="Noto Sans KR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125" i="0" u="none">
                          <a:solidFill>
                            <a:srgbClr val="475569"/>
                          </a:solidFill>
                          <a:latin typeface="Noto Sans KR"/>
                        </a:rPr>
                        <a:t>3,500원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25" i="0" u="none">
                          <a:solidFill>
                            <a:srgbClr val="0D9488"/>
                          </a:solidFill>
                          <a:latin typeface="Noto Sans KR"/>
                        </a:rPr>
                        <a:t>3,500원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Noto Sans KR"/>
                        </a:rPr>
                        <a:t>2026-10-02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Noto Sans KR"/>
                        </a:rPr>
                        <a:t>초코쿠키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475569"/>
                          </a:solidFill>
                          <a:latin typeface="Noto Sans KR"/>
                        </a:rPr>
                        <a:t>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125" i="0" u="none">
                          <a:solidFill>
                            <a:srgbClr val="475569"/>
                          </a:solidFill>
                          <a:latin typeface="Noto Sans KR"/>
                        </a:rPr>
                        <a:t>1,500원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25" i="0" u="none">
                          <a:solidFill>
                            <a:srgbClr val="0D9488"/>
                          </a:solidFill>
                          <a:latin typeface="Noto Sans KR"/>
                        </a:rPr>
                        <a:t>6,000원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Noto Sans KR"/>
                        </a:rPr>
                        <a:t>2026-10-02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Noto Sans KR"/>
                        </a:rPr>
                        <a:t>치즈케이크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475569"/>
                          </a:solidFill>
                          <a:latin typeface="Noto Sans KR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125" i="0" u="none">
                          <a:solidFill>
                            <a:srgbClr val="475569"/>
                          </a:solidFill>
                          <a:latin typeface="Noto Sans KR"/>
                        </a:rPr>
                        <a:t>5,000원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25" i="0" u="none">
                          <a:solidFill>
                            <a:srgbClr val="0D9488"/>
                          </a:solidFill>
                          <a:latin typeface="Noto Sans KR"/>
                        </a:rPr>
                        <a:t>5,000원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9600" y="6219825"/>
            <a:ext cx="235167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172A"/>
                </a:solidFill>
                <a:latin typeface="Noto Sans KR"/>
              </a:rPr>
              <a:t>실습용 CSV 데이터 서식 참조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5440" y="6229350"/>
            <a:ext cx="72270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D9488"/>
                </a:solidFill>
                <a:latin typeface="Noto Sans KR"/>
              </a:rPr>
              <a:t>02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3871466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Noto Sans KR"/>
              </a:rPr>
              <a:t>STEP-BY-STEP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66750"/>
            <a:ext cx="4956283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Noto Sans KR"/>
              </a:rPr>
              <a:t>판매 기록 방법 및 작성 예시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77710" y="581025"/>
            <a:ext cx="19582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5803D"/>
                </a:solidFill>
                <a:latin typeface="Noto Sans KR"/>
              </a:rPr>
              <a:t>판매금액 = 수량 × 단가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3190875"/>
            <a:ext cx="372546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Noto Sans KR"/>
              </a:rPr>
              <a:t>기록 필수 5가지 항목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3467100"/>
            <a:ext cx="2933700" cy="10663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Noto Sans KR"/>
              </a:rPr>
              <a:t>1. 판매일</a:t>
            </a:r>
            <a:r>
              <a:rPr b="0" sz="1050" i="0" u="none">
                <a:solidFill>
                  <a:srgbClr val="475569"/>
                </a:solidFill>
                <a:latin typeface="Noto Sans KR"/>
              </a:rPr>
              <a:t> (YYYY-MM-DD)</a:t>
            </a:r>
            <a:r>
              <a:t>
</a:t>
            </a:r>
            <a:r>
              <a:rPr b="1" sz="1050" i="0" u="none">
                <a:solidFill>
                  <a:srgbClr val="475569"/>
                </a:solidFill>
                <a:latin typeface="Noto Sans KR"/>
              </a:rPr>
              <a:t>2. 상품명</a:t>
            </a:r>
            <a:r>
              <a:rPr b="0" sz="1050" i="0" u="none">
                <a:solidFill>
                  <a:srgbClr val="475569"/>
                </a:solidFill>
                <a:latin typeface="Noto Sans KR"/>
              </a:rPr>
              <a:t> (정확한 품목명)</a:t>
            </a:r>
            <a:r>
              <a:t>
</a:t>
            </a:r>
            <a:r>
              <a:rPr b="1" sz="1050" i="0" u="none">
                <a:solidFill>
                  <a:srgbClr val="475569"/>
                </a:solidFill>
                <a:latin typeface="Noto Sans KR"/>
              </a:rPr>
              <a:t>3. 수량</a:t>
            </a:r>
            <a:r>
              <a:rPr b="0" sz="1050" i="0" u="none">
                <a:solidFill>
                  <a:srgbClr val="475569"/>
                </a:solidFill>
                <a:latin typeface="Noto Sans KR"/>
              </a:rPr>
              <a:t> (구매 개수)</a:t>
            </a:r>
            <a:r>
              <a:t>
</a:t>
            </a:r>
            <a:r>
              <a:rPr b="1" sz="1050" i="0" u="none">
                <a:solidFill>
                  <a:srgbClr val="475569"/>
                </a:solidFill>
                <a:latin typeface="Noto Sans KR"/>
              </a:rPr>
              <a:t>4. 단가</a:t>
            </a:r>
            <a:r>
              <a:rPr b="0" sz="1050" i="0" u="none">
                <a:solidFill>
                  <a:srgbClr val="475569"/>
                </a:solidFill>
                <a:latin typeface="Noto Sans KR"/>
              </a:rPr>
              <a:t> (1개당 금액)</a:t>
            </a:r>
            <a:r>
              <a:t>
</a:t>
            </a:r>
            <a:r>
              <a:rPr b="1" sz="1050" i="0" u="none">
                <a:solidFill>
                  <a:srgbClr val="475569"/>
                </a:solidFill>
                <a:latin typeface="Noto Sans KR"/>
              </a:rPr>
              <a:t>5. 판매금액</a:t>
            </a:r>
            <a:r>
              <a:rPr b="0" sz="1050" i="0" u="none">
                <a:solidFill>
                  <a:srgbClr val="475569"/>
                </a:solidFill>
                <a:latin typeface="Noto Sans KR"/>
              </a:rPr>
              <a:t> (수량 × 단가)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57900"/>
            <a:ext cx="109728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5790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1352550"/>
            <a:ext cx="5391150" cy="1052512"/>
          </a:xfrm>
          <a:prstGeom prst="roundRect">
            <a:avLst>
              <a:gd name="adj" fmla="val 144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1352550"/>
            <a:ext cx="5391150" cy="1052512"/>
          </a:xfrm>
          <a:prstGeom prst="roundRect">
            <a:avLst>
              <a:gd name="adj" fmla="val 144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2595562"/>
            <a:ext cx="5391150" cy="1052512"/>
          </a:xfrm>
          <a:prstGeom prst="roundRect">
            <a:avLst>
              <a:gd name="adj" fmla="val 144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1250" y="2595562"/>
            <a:ext cx="5391150" cy="1052512"/>
          </a:xfrm>
          <a:prstGeom prst="roundRect">
            <a:avLst>
              <a:gd name="adj" fmla="val 144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628775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475" y="1628775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2871787"/>
            <a:ext cx="419100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475" y="2871787"/>
            <a:ext cx="419100" cy="4191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258" y="1743075"/>
            <a:ext cx="148232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2908" y="1743075"/>
            <a:ext cx="148232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1258" y="2986087"/>
            <a:ext cx="148232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2908" y="2986087"/>
            <a:ext cx="148232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66725"/>
            <a:ext cx="104894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Noto Sans KR"/>
              </a:rPr>
              <a:t>CHECKLIST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6675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Noto Sans KR"/>
              </a:rPr>
              <a:t>기록 시 반드시 주의할 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219825"/>
            <a:ext cx="333393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172A"/>
                </a:solidFill>
                <a:latin typeface="Noto Sans KR"/>
              </a:rPr>
              <a:t>원활한 매장 운영을 위해 함께 지켜주세요.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45440" y="6229350"/>
            <a:ext cx="72270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D9488"/>
                </a:solidFill>
                <a:latin typeface="Noto Sans KR"/>
              </a:rPr>
              <a:t>03 /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5425" y="1628775"/>
            <a:ext cx="454236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Noto Sans KR"/>
              </a:rPr>
              <a:t>1. 결제 즉시 작성하기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5425" y="1914525"/>
            <a:ext cx="4326061" cy="21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Noto Sans KR"/>
              </a:rPr>
              <a:t>바쁜 시간대에도 누락 방지를 위해 판매 직후 즉시 기재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77075" y="1628775"/>
            <a:ext cx="397979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Noto Sans KR"/>
              </a:rPr>
              <a:t>2. 단가 재확인하기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77075" y="1914525"/>
            <a:ext cx="3790280" cy="21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Noto Sans KR"/>
              </a:rPr>
              <a:t>할인 이벤트 및 메뉴 옵션별 변경 가격 사전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5425" y="2871787"/>
            <a:ext cx="392783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Noto Sans KR"/>
              </a:rPr>
              <a:t>3. 명확하고 바르게 작성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5425" y="3157537"/>
            <a:ext cx="3740794" cy="21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Noto Sans KR"/>
              </a:rPr>
              <a:t>교대 직원 및 마감 담당자가 알아보기 쉽게 정돈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7075" y="2871787"/>
            <a:ext cx="437574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Noto Sans KR"/>
              </a:rPr>
              <a:t>4. 수정 시 담당자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075" y="3157537"/>
            <a:ext cx="4167373" cy="21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Noto Sans KR"/>
              </a:rPr>
              <a:t>임의 삭제 금지, 두 줄 그은 후 정정 금액 작성 및 보고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8107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3464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Noto Sans KR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8225"/>
            <a:ext cx="693446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Noto Sans KR"/>
              </a:rPr>
              <a:t>http://volcora.com/cdn/shop/articles/20_35c81895-8a73-46ac-be10-9ccfff7a61ad.png?v=1786535043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28725"/>
            <a:ext cx="173645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Noto Sans K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oto Sans KR"/>
              </a:rPr>
              <a:t>volcora.com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